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4"/>
  </p:notesMasterIdLst>
  <p:sldIdLst>
    <p:sldId id="270" r:id="rId2"/>
    <p:sldId id="269" r:id="rId3"/>
  </p:sldIdLst>
  <p:sldSz cx="3600450" cy="3600450"/>
  <p:notesSz cx="9144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6A97"/>
    <a:srgbClr val="446B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97"/>
    <p:restoredTop sz="94610"/>
  </p:normalViewPr>
  <p:slideViewPr>
    <p:cSldViewPr snapToGrid="0" snapToObjects="1">
      <p:cViewPr>
        <p:scale>
          <a:sx n="98" d="100"/>
          <a:sy n="98" d="100"/>
        </p:scale>
        <p:origin x="2664" y="1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3913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9941" rtl="0" eaLnBrk="1" latinLnBrk="0" hangingPunct="1">
      <a:defRPr sz="472" kern="1200">
        <a:solidFill>
          <a:schemeClr val="tx1"/>
        </a:solidFill>
        <a:latin typeface="+mn-lt"/>
        <a:ea typeface="+mn-ea"/>
        <a:cs typeface="+mn-cs"/>
      </a:defRPr>
    </a:lvl1pPr>
    <a:lvl2pPr marL="179971" algn="l" defTabSz="359941" rtl="0" eaLnBrk="1" latinLnBrk="0" hangingPunct="1">
      <a:defRPr sz="472" kern="1200">
        <a:solidFill>
          <a:schemeClr val="tx1"/>
        </a:solidFill>
        <a:latin typeface="+mn-lt"/>
        <a:ea typeface="+mn-ea"/>
        <a:cs typeface="+mn-cs"/>
      </a:defRPr>
    </a:lvl2pPr>
    <a:lvl3pPr marL="359941" algn="l" defTabSz="359941" rtl="0" eaLnBrk="1" latinLnBrk="0" hangingPunct="1">
      <a:defRPr sz="472" kern="1200">
        <a:solidFill>
          <a:schemeClr val="tx1"/>
        </a:solidFill>
        <a:latin typeface="+mn-lt"/>
        <a:ea typeface="+mn-ea"/>
        <a:cs typeface="+mn-cs"/>
      </a:defRPr>
    </a:lvl3pPr>
    <a:lvl4pPr marL="539913" algn="l" defTabSz="359941" rtl="0" eaLnBrk="1" latinLnBrk="0" hangingPunct="1">
      <a:defRPr sz="472" kern="1200">
        <a:solidFill>
          <a:schemeClr val="tx1"/>
        </a:solidFill>
        <a:latin typeface="+mn-lt"/>
        <a:ea typeface="+mn-ea"/>
        <a:cs typeface="+mn-cs"/>
      </a:defRPr>
    </a:lvl4pPr>
    <a:lvl5pPr marL="719884" algn="l" defTabSz="359941" rtl="0" eaLnBrk="1" latinLnBrk="0" hangingPunct="1">
      <a:defRPr sz="472" kern="1200">
        <a:solidFill>
          <a:schemeClr val="tx1"/>
        </a:solidFill>
        <a:latin typeface="+mn-lt"/>
        <a:ea typeface="+mn-ea"/>
        <a:cs typeface="+mn-cs"/>
      </a:defRPr>
    </a:lvl5pPr>
    <a:lvl6pPr marL="899854" algn="l" defTabSz="359941" rtl="0" eaLnBrk="1" latinLnBrk="0" hangingPunct="1">
      <a:defRPr sz="472" kern="1200">
        <a:solidFill>
          <a:schemeClr val="tx1"/>
        </a:solidFill>
        <a:latin typeface="+mn-lt"/>
        <a:ea typeface="+mn-ea"/>
        <a:cs typeface="+mn-cs"/>
      </a:defRPr>
    </a:lvl6pPr>
    <a:lvl7pPr marL="1079826" algn="l" defTabSz="359941" rtl="0" eaLnBrk="1" latinLnBrk="0" hangingPunct="1">
      <a:defRPr sz="472" kern="1200">
        <a:solidFill>
          <a:schemeClr val="tx1"/>
        </a:solidFill>
        <a:latin typeface="+mn-lt"/>
        <a:ea typeface="+mn-ea"/>
        <a:cs typeface="+mn-cs"/>
      </a:defRPr>
    </a:lvl7pPr>
    <a:lvl8pPr marL="1259796" algn="l" defTabSz="359941" rtl="0" eaLnBrk="1" latinLnBrk="0" hangingPunct="1">
      <a:defRPr sz="472" kern="1200">
        <a:solidFill>
          <a:schemeClr val="tx1"/>
        </a:solidFill>
        <a:latin typeface="+mn-lt"/>
        <a:ea typeface="+mn-ea"/>
        <a:cs typeface="+mn-cs"/>
      </a:defRPr>
    </a:lvl8pPr>
    <a:lvl9pPr marL="1439767" algn="l" defTabSz="359941" rtl="0" eaLnBrk="1" latinLnBrk="0" hangingPunct="1">
      <a:defRPr sz="47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24289-B38E-99E5-FD5F-BDF4EBFD8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BE6AC5-C6E0-8744-51FF-0F47DD65A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2D580-9470-6F27-C34A-60EACC2F8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recreation of the OMOP INDICES hex sticker. The hexagon and lettering are native PowerPoint objects. The icon is a crisp vector SVG placed separately so it remains scalable and can be converted to editable PowerPoint shapes if needed.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083D3-42D7-518E-82E6-345B2728BB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36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recreation of the OMOP INDICES hex sticker. The hexagon and lettering are native PowerPoint objects. The icon is a crisp vector SVG placed separately so it remains scalable and can be converted to editable PowerPoint shapes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8170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04561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/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83621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9135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4061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83081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53168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59660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3659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77536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70517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5251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75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0C406-20A4-6DDF-F7C9-DA79BEAE1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23257F-BDD9-FA70-2302-0B2C311F1A41}"/>
              </a:ext>
            </a:extLst>
          </p:cNvPr>
          <p:cNvSpPr/>
          <p:nvPr/>
        </p:nvSpPr>
        <p:spPr>
          <a:xfrm rot="5400000">
            <a:off x="6651" y="241543"/>
            <a:ext cx="3605111" cy="3122026"/>
          </a:xfrm>
          <a:prstGeom prst="hexagon">
            <a:avLst/>
          </a:prstGeom>
          <a:solidFill>
            <a:srgbClr val="456A97"/>
          </a:solidFill>
          <a:ln w="9525">
            <a:solidFill>
              <a:srgbClr val="294A68"/>
            </a:solidFill>
            <a:prstDash val="solid"/>
          </a:ln>
        </p:spPr>
        <p:txBody>
          <a:bodyPr/>
          <a:lstStyle/>
          <a:p>
            <a:endParaRPr lang="en-US" sz="279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66632E-F090-DD25-1D22-F45E50D8FA42}"/>
              </a:ext>
            </a:extLst>
          </p:cNvPr>
          <p:cNvSpPr/>
          <p:nvPr/>
        </p:nvSpPr>
        <p:spPr>
          <a:xfrm>
            <a:off x="335882" y="909833"/>
            <a:ext cx="2932164" cy="1073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4400" b="1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OMOP</a:t>
            </a:r>
            <a:br>
              <a:rPr lang="en-US" sz="4400" b="1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</a:br>
            <a:r>
              <a:rPr lang="en-US" sz="4400" b="1" dirty="0">
                <a:solidFill>
                  <a:srgbClr val="102A43"/>
                </a:solidFill>
                <a:latin typeface="Roboto Condensed"/>
                <a:ea typeface="Roboto Condensed"/>
                <a:cs typeface="Roboto Condensed"/>
              </a:rPr>
              <a:t>INDICES</a:t>
            </a:r>
            <a:endParaRPr lang="en-US" sz="4400" b="1" dirty="0">
              <a:latin typeface="Roboto Condensed"/>
            </a:endParaRPr>
          </a:p>
        </p:txBody>
      </p:sp>
      <p:pic>
        <p:nvPicPr>
          <p:cNvPr id="8" name="Extracted Person Figure">
            <a:extLst>
              <a:ext uri="{FF2B5EF4-FFF2-40B4-BE49-F238E27FC236}">
                <a16:creationId xmlns:a16="http://schemas.microsoft.com/office/drawing/2014/main" id="{DB2F3327-1DB3-0906-48B8-DC731791CD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6487" y="1643471"/>
            <a:ext cx="1068315" cy="14752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2751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9AC535-C914-A6BE-6D06-8762523B11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45" t="2260" r="8064" b="1982"/>
          <a:stretch>
            <a:fillRect/>
          </a:stretch>
        </p:blipFill>
        <p:spPr>
          <a:xfrm>
            <a:off x="226150" y="0"/>
            <a:ext cx="3148149" cy="360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40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4CEF9D4-BB18-914C-A24D-1B7D5B20AED4}">
  <we:reference id="WA200010215" version="2.0.0.0" store="Omex" storeType="OMEX"/>
  <we:alternateReferences>
    <we:reference id="WA200010215" version="2.0.0.0" store="WA200010215" storeType="OMEX"/>
  </we:alternateReferences>
  <we:properties>
    <we:property name="bps.codex_control.document_id" value="&quot;fb26a657-6404-4321-98c9-be2b552917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</TotalTime>
  <Words>89</Words>
  <Application>Microsoft Macintosh PowerPoint</Application>
  <PresentationFormat>Custom</PresentationFormat>
  <Paragraphs>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Roboto Condensed</vt:lpstr>
      <vt:lpstr>Office 2013 - 2022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OMOP INDICES</dc:title>
  <dc:subject>Editable OMOP Indices hex sticker</dc:subject>
  <dc:creator>OpenAI</dc:creator>
  <cp:lastModifiedBy>Marti Catala Sabate</cp:lastModifiedBy>
  <cp:revision>8</cp:revision>
  <dcterms:created xsi:type="dcterms:W3CDTF">2026-09-07T19:03:06Z</dcterms:created>
  <dcterms:modified xsi:type="dcterms:W3CDTF">2026-09-09T13:20:45Z</dcterms:modified>
</cp:coreProperties>
</file>